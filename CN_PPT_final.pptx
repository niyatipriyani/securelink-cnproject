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</ns0:sldIdLst>
  <ns0:sldSz cx="12192000" cy="6858000" type="screen4x3"/>
  <ns0:notesSz cx="6858000" cy="9144000"/>
  <ns0:embeddedFontLst>
    <ns0:embeddedFont>
      <ns0:font typeface="DM Sans"/>
      <ns0:bold ns1:id="rIdFont15"/>
      <ns0:regular ns1:id="rIdFont16"/>
    </ns0:embeddedFont>
    <ns0:embeddedFont>
      <ns0:font typeface="JetBrains Mono"/>
      <ns0:regular ns1:id="rIdFont17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Font15" Type="http://schemas.openxmlformats.org/officeDocument/2006/relationships/font" Target="fonts/b1771268-e128-4db7-90dd-b010baec6441.fntdata" /><ns0:Relationship Id="rIdFont16" Type="http://schemas.openxmlformats.org/officeDocument/2006/relationships/font" Target="fonts/fa0196a7-32f7-471f-9c58-b0a634cbffa1.fntdata" /><ns0:Relationship Id="rIdFont17" Type="http://schemas.openxmlformats.org/officeDocument/2006/relationships/font" Target="fonts/4845c971-0ee9-48f2-a818-4b042c5ba5b6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162550"/>
            <a:ext cx="10972800" cy="1238250"/>
          </a:xfrm>
          <a:prstGeom prst="roundRect">
            <a:avLst>
              <a:gd name="adj" fmla="val 923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4100" y="457200"/>
            <a:ext cx="1638300" cy="647700"/>
          </a:xfrm>
          <a:prstGeom prst="roundRect">
            <a:avLst>
              <a:gd name="adj" fmla="val 1176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009775"/>
            <a:ext cx="6096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2276475"/>
            <a:ext cx="11582400" cy="1257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750" i="0" u="none">
                <a:solidFill>
                  <a:srgbClr val="FFFFFF"/>
                </a:solidFill>
                <a:latin typeface="DM Sans"/>
              </a:rPr>
              <a:t>Encrypted Client-Server Communication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724275"/>
            <a:ext cx="100965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94A3B8"/>
                </a:solidFill>
                <a:latin typeface="DM Sans"/>
              </a:rPr>
              <a:t>Resilient TCP Socket Communication with TLS 1.3 Encryption, 32 KB Resumable Chunked Uploads, Flask Web Gateway, and Multi-Level SHA-256 Data Integrity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7143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DM Sans"/>
              </a:rPr>
              <a:t>DEPARTMENT OF COMPUTER ENGINEERING AND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71437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DM Sans"/>
              </a:rPr>
              <a:t>Mini-Project Presentation — Computer Networks Laboratory (CSE20110)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0275" y="571500"/>
            <a:ext cx="15716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350" i="0" u="none">
                <a:solidFill>
                  <a:srgbClr val="F8FAFC"/>
                </a:solidFill>
                <a:latin typeface="DM Sans"/>
              </a:rPr>
              <a:t>MIT-WPU PUNE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0275" y="819150"/>
            <a:ext cx="1571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050" i="0" u="none">
                <a:solidFill>
                  <a:srgbClr val="94A3B8"/>
                </a:solidFill>
                <a:latin typeface="DM Sans"/>
              </a:rPr>
              <a:t>Since 1983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91150"/>
            <a:ext cx="73223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DM Sans"/>
              </a:rPr>
              <a:t>SUBMITTED BY (GROUP NO. 12 — PANEL K, BATCH K1)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7225" y="5467350"/>
            <a:ext cx="30003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350" i="0" u="none">
                <a:solidFill>
                  <a:srgbClr val="F8FAFC"/>
                </a:solidFill>
                <a:latin typeface="DM Sans"/>
              </a:rPr>
              <a:t>Faculty Guide: Dr. Uma Pujeri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7225" y="5734050"/>
            <a:ext cx="3000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200" i="0" u="none">
                <a:solidFill>
                  <a:srgbClr val="CBD5E1"/>
                </a:solidFill>
                <a:latin typeface="DM Sans"/>
              </a:rPr>
              <a:t>Academic Year: 2026–2027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7225" y="5972175"/>
            <a:ext cx="3000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200" i="0" u="none">
                <a:solidFill>
                  <a:srgbClr val="CBD5E1"/>
                </a:solidFill>
                <a:latin typeface="DM Sans"/>
              </a:rPr>
              <a:t>Submission Date: 21 October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657850"/>
            <a:ext cx="35004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8FAFC"/>
                </a:solidFill>
                <a:latin typeface="DM Sans"/>
              </a:rPr>
              <a:t>• Aditi Pathak (PRN: 1262240936)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943600"/>
            <a:ext cx="35004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8FAFC"/>
                </a:solidFill>
                <a:latin typeface="DM Sans"/>
              </a:rPr>
              <a:t>• Shraddha Pawar (PRN: 1262241161)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71950" y="5657850"/>
            <a:ext cx="325040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8FAFC"/>
                </a:solidFill>
                <a:latin typeface="DM Sans"/>
              </a:rPr>
              <a:t>• Rashi Rangrej (PRN: 1262241175)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1950" y="5943600"/>
            <a:ext cx="325040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8FAFC"/>
                </a:solidFill>
                <a:latin typeface="DM Sans"/>
              </a:rPr>
              <a:t>• Niyati Priyani (PRN: 1262241237)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176462"/>
            <a:ext cx="5334000" cy="3267075"/>
          </a:xfrm>
          <a:prstGeom prst="roundRect">
            <a:avLst>
              <a:gd name="adj" fmla="val 349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176462"/>
            <a:ext cx="5334000" cy="3267075"/>
          </a:xfrm>
          <a:prstGeom prst="roundRect">
            <a:avLst>
              <a:gd name="adj" fmla="val 349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471737"/>
            <a:ext cx="209550" cy="209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2471737"/>
            <a:ext cx="209550" cy="209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57875" y="381000"/>
            <a:ext cx="63341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369A1"/>
                </a:solidFill>
                <a:latin typeface="DM Sans"/>
              </a:rPr>
              <a:t>Core Goal: Build a secure, fault-tolerant communication middleware.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19100"/>
            <a:ext cx="51077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DM Sans"/>
              </a:rPr>
              <a:t>Computer Networks Laboratory CSE20110 | Group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28650"/>
            <a:ext cx="5363170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DM Sans"/>
              </a:rPr>
              <a:t>PROBLEM AND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2443162"/>
            <a:ext cx="6300787" cy="276225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DC2626"/>
                </a:solidFill>
                <a:latin typeface="DM Sans"/>
              </a:rPr>
              <a:t>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2443162"/>
            <a:ext cx="5676900" cy="276225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DM Sans"/>
              </a:rPr>
              <a:t>Measurable Objectives (O1 – O7)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2890837"/>
            <a:ext cx="4895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DM Sans"/>
              </a:rPr>
              <a:t>Unencrypted TCP Risk:</a:t>
            </a:r>
            <a:r>
              <a:rPr b="0" sz="1350" i="0" u="none">
                <a:solidFill>
                  <a:srgbClr val="1E293B"/>
                </a:solidFill>
                <a:latin typeface="DM Sans"/>
              </a:rPr>
              <a:t> Plain sockets expose credentials to packet sniffing.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500437"/>
            <a:ext cx="4895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DM Sans"/>
              </a:rPr>
              <a:t>Monolithic Upload Failure:</a:t>
            </a:r>
            <a:r>
              <a:rPr b="0" sz="1350" i="0" u="none">
                <a:solidFill>
                  <a:srgbClr val="1E293B"/>
                </a:solidFill>
                <a:latin typeface="DM Sans"/>
              </a:rPr>
              <a:t> Link drops force complete file retransmission from 0%.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4110037"/>
            <a:ext cx="4895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DM Sans"/>
              </a:rPr>
              <a:t>CLI Usability Barrier:</a:t>
            </a:r>
            <a:r>
              <a:rPr b="0" sz="1350" i="0" u="none">
                <a:solidFill>
                  <a:srgbClr val="1E293B"/>
                </a:solidFill>
                <a:latin typeface="DM Sans"/>
              </a:rPr>
              <a:t> Terminal workflows restrict non-technical user adoption.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4719637"/>
            <a:ext cx="4895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DM Sans"/>
              </a:rPr>
              <a:t>Concurrency Race Conditions:</a:t>
            </a:r>
            <a:r>
              <a:rPr b="0" sz="1350" i="0" u="none">
                <a:solidFill>
                  <a:srgbClr val="1E293B"/>
                </a:solidFill>
                <a:latin typeface="DM Sans"/>
              </a:rPr>
              <a:t> Simultaneous uploads risk manifest corruption without locking.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5100" y="2890837"/>
            <a:ext cx="4895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DM Sans"/>
              </a:rPr>
              <a:t>O1 &amp; O2 (TLS 1.3 Transport):</a:t>
            </a:r>
            <a:r>
              <a:rPr b="0" sz="1350" i="0" u="none">
                <a:solidFill>
                  <a:srgbClr val="1E293B"/>
                </a:solidFill>
                <a:latin typeface="DM Sans"/>
              </a:rPr>
              <a:t> Encrypted TCP socket channels on port 5001.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5100" y="3500437"/>
            <a:ext cx="4895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DM Sans"/>
              </a:rPr>
              <a:t>O3 &amp; O4 (Framed Messaging):</a:t>
            </a:r>
            <a:r>
              <a:rPr b="0" sz="1350" i="0" u="none">
                <a:solidFill>
                  <a:srgbClr val="1E293B"/>
                </a:solidFill>
                <a:latin typeface="DM Sans"/>
              </a:rPr>
              <a:t> Credential verification with 4-byte length-prefixed JSON.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5100" y="4110037"/>
            <a:ext cx="4895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DM Sans"/>
              </a:rPr>
              <a:t>O5 &amp; O6 (Resumable Concurrency):</a:t>
            </a:r>
            <a:r>
              <a:rPr b="0" sz="1350" i="0" u="none">
                <a:solidFill>
                  <a:srgbClr val="1E293B"/>
                </a:solidFill>
                <a:latin typeface="DM Sans"/>
              </a:rPr>
              <a:t> 32 KB delta chunks with SHA-256 and RLock safety.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5100" y="4719637"/>
            <a:ext cx="4895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DM Sans"/>
              </a:rPr>
              <a:t>O7 (Latency &amp; Fault Recovery):</a:t>
            </a:r>
            <a:r>
              <a:rPr b="0" sz="1350" i="0" u="none">
                <a:solidFill>
                  <a:srgbClr val="1E293B"/>
                </a:solidFill>
                <a:latin typeface="DM Sans"/>
              </a:rPr>
              <a:t> Sub-millisecond RTT (0.158 ms avg) and error handling.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181100"/>
            <a:ext cx="10972800" cy="1847850"/>
          </a:xfrm>
          <a:prstGeom prst="roundRect">
            <a:avLst>
              <a:gd name="adj" fmla="val 61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695700"/>
            <a:ext cx="3505200" cy="23431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3924300"/>
            <a:ext cx="3505200" cy="1885950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3924300"/>
            <a:ext cx="3505200" cy="1885950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6300" y="1733550"/>
            <a:ext cx="2302668" cy="1066800"/>
          </a:xfrm>
          <a:prstGeom prst="roundRect">
            <a:avLst>
              <a:gd name="adj" fmla="val 714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88543" y="1733550"/>
            <a:ext cx="2302668" cy="1066800"/>
          </a:xfrm>
          <a:prstGeom prst="roundRect">
            <a:avLst>
              <a:gd name="adj" fmla="val 714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0787" y="1733550"/>
            <a:ext cx="2302668" cy="1066800"/>
          </a:xfrm>
          <a:prstGeom prst="roundRect">
            <a:avLst>
              <a:gd name="adj" fmla="val 714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013031" y="1733550"/>
            <a:ext cx="2302668" cy="1066800"/>
          </a:xfrm>
          <a:prstGeom prst="roundRect">
            <a:avLst>
              <a:gd name="adj" fmla="val 714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3268" y="2162175"/>
            <a:ext cx="180975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5512" y="2162175"/>
            <a:ext cx="180975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7756" y="2162175"/>
            <a:ext cx="180975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3334" y="1885950"/>
            <a:ext cx="228600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5578" y="1885950"/>
            <a:ext cx="228600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7821" y="1885950"/>
            <a:ext cx="22860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0065" y="1885950"/>
            <a:ext cx="22860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3952875"/>
            <a:ext cx="238125" cy="1905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0" y="4181475"/>
            <a:ext cx="190500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5800" y="4181475"/>
            <a:ext cx="190500" cy="1905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DM Sans"/>
              </a:rPr>
              <a:t>Computer Networks Laboratory CSE20110 | Group 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590550"/>
            <a:ext cx="11582400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DM Sans"/>
              </a:rPr>
              <a:t>PROPOSED DESIGN AND REQUIREMENTS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300" y="1409700"/>
            <a:ext cx="113157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DM Sans"/>
              </a:rPr>
              <a:t>FIGURE 2.1 — MULTI-TIER FRAMEWORK ARCHITECTURE &amp; NETWORK TOPOLOGY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3924300"/>
            <a:ext cx="4000500" cy="247650"/>
          </a:xfrm>
          <a:prstGeom prst="rect">
            <a:avLst/>
          </a:prstGeom>
          <a:noFill/>
        </p:spPr>
        <p:txBody>
          <a:bodyPr wrap="none" lIns="238125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DM Sans"/>
              </a:rPr>
              <a:t>Protocols &amp; Framing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152900"/>
            <a:ext cx="4000500" cy="247650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DM Sans"/>
              </a:rPr>
              <a:t>Addressing &amp; Routing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5800" y="4152900"/>
            <a:ext cx="3886200" cy="247650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DM Sans"/>
              </a:rPr>
              <a:t>Tools &amp; Environment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6539" y="2190750"/>
            <a:ext cx="252219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DM Sans"/>
              </a:rPr>
              <a:t>Web Portal 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591" y="2457450"/>
            <a:ext cx="240208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475569"/>
                </a:solidFill>
                <a:latin typeface="DM Sans"/>
              </a:rPr>
              <a:t>templates/index.html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8783" y="2190750"/>
            <a:ext cx="252219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DM Sans"/>
              </a:rPr>
              <a:t>Flask Web Gateway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38835" y="2457450"/>
            <a:ext cx="240208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475569"/>
                </a:solidFill>
                <a:latin typeface="DM Sans"/>
              </a:rPr>
              <a:t>app.py (Port 5000)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1026" y="2190750"/>
            <a:ext cx="252219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DM Sans"/>
              </a:rPr>
              <a:t>TLS 1.3 Backend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51078" y="2457450"/>
            <a:ext cx="240208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475569"/>
                </a:solidFill>
                <a:latin typeface="DM Sans"/>
              </a:rPr>
              <a:t>server.py (Port 5001)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03270" y="2190750"/>
            <a:ext cx="252219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DM Sans"/>
              </a:rPr>
              <a:t>Chunk Storage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3322" y="2457450"/>
            <a:ext cx="240208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475569"/>
                </a:solidFill>
                <a:latin typeface="DM Sans"/>
              </a:rPr>
              <a:t>files/ &amp; .chunk_store/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4286250"/>
            <a:ext cx="3143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DM Sans"/>
              </a:rPr>
              <a:t>Transport: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TCP with TLS 1.3 encryption.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4819650"/>
            <a:ext cx="3143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DM Sans"/>
              </a:rPr>
              <a:t>4-Byte Header: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!I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framing prevents split reads.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5353050"/>
            <a:ext cx="3143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DM Sans"/>
              </a:rPr>
              <a:t>Chunk Size: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32 KB atomic transfer blocks.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514850"/>
            <a:ext cx="381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DM Sans"/>
              </a:rPr>
              <a:t>Host IP: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Loopback 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127.0.0.1/8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4819650"/>
            <a:ext cx="381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DM Sans"/>
              </a:rPr>
              <a:t>Web Gateway: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HTTP on Port 5000.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5124450"/>
            <a:ext cx="3143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DM Sans"/>
              </a:rPr>
              <a:t>Core Socket: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TLS Server &amp; CLI on Port 5001.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05800" y="4514850"/>
            <a:ext cx="381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DM Sans"/>
              </a:rPr>
              <a:t>Runtime: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Python 3.14.0 &amp; Flask 3.1.0.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05800" y="4819650"/>
            <a:ext cx="381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DM Sans"/>
              </a:rPr>
              <a:t>Security: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OpenSSL 3.0.16 X.509 certs.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05800" y="5124450"/>
            <a:ext cx="3143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DM Sans"/>
              </a:rPr>
              <a:t>Stdlib: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socket, ssl, struct, hashlib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133600"/>
            <a:ext cx="6328469" cy="3790950"/>
          </a:xfrm>
          <a:prstGeom prst="roundRect">
            <a:avLst>
              <a:gd name="adj" fmla="val 301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2869" y="1833562"/>
            <a:ext cx="4339530" cy="1362075"/>
          </a:xfrm>
          <a:prstGeom prst="roundRect">
            <a:avLst>
              <a:gd name="adj" fmla="val 839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242869" y="3348037"/>
            <a:ext cx="4339530" cy="1362075"/>
          </a:xfrm>
          <a:prstGeom prst="roundRect">
            <a:avLst>
              <a:gd name="adj" fmla="val 839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2869" y="4862512"/>
            <a:ext cx="4339530" cy="1362075"/>
          </a:xfrm>
          <a:prstGeom prst="roundRect">
            <a:avLst>
              <a:gd name="adj" fmla="val 8391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23074" y="381000"/>
            <a:ext cx="56545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369A1"/>
                </a:solidFill>
                <a:latin typeface="DM Sans"/>
              </a:rPr>
              <a:t>Core Design: Deterministic SHA-256 upload_id enables stateless session recovery.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362200"/>
            <a:ext cx="5966519" cy="3333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E2E8F0"/>
                </a:solidFill>
                <a:latin typeface="DM Sans"/>
              </a:rPr>
              <a:t>upload_identity = json.dumps( [username, filename, file_size, normalized_hash], separators=(",", ":") ).encode("utf-8") upload_id = hashlib.sha256(upload_identity).hexdigest() with UPLOAD_LOCK: # Thread-safe manifest &amp; chunk access folder.mkdir(parents=True, exist_ok=True) missing = find_missing_chunks(folder, manifest) # Receive 32 KB binary frame &amp; validate SHA-256 digest data = receive_exactly(sock, expected_size) if hashlib.sha256(data).hexdigest() == expected_hash: with temporary.open("wb") as file: file.write(data) os.replace(temporary, destination)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19100"/>
            <a:ext cx="676684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DM Sans"/>
              </a:rPr>
              <a:t>Computer Networks Laboratory CSE20110 | Group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28650"/>
            <a:ext cx="578416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DM Sans"/>
              </a:rPr>
              <a:t>IMPLEMENTATION AND TECHNICAL WORKING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733908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DM Sans"/>
              </a:rPr>
              <a:t>server.py — Resumable Upload &amp; RLock Synchronization (Python 3.14)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647950"/>
            <a:ext cx="5966519" cy="30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E2E8F0"/>
                </a:solidFill>
                <a:latin typeface="JetBrains Mono"/>
              </a:rPr>
              <a:t>upload_identity = json.dumps( [username, filename, file_size, normalized_hash], separators=(",", ":") ).encode("utf-8") upload_id = hashlib.sha256(upload_identity).hexdigest() with UPLOAD_LOCK: # Thread-safe manifest &amp; chunk access folder.mkdir(parents=True, exist_ok=True) missing = find_missing_chunks(folder, manifest) # Receive 32 KB binary frame &amp; validate SHA-256 digest data = receive_exactly(sock, expected_size) if hashlib.sha256(data).hexdigest() == expected_hash: with temporary.open("wb") as file: file.write(data) os.replace(temporary, destination)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33369" y="2024062"/>
            <a:ext cx="475863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DM Sans"/>
              </a:rPr>
              <a:t>1. Resumable Chunk Protocol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33369" y="2319337"/>
            <a:ext cx="40537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Files segment into 32 KB blocks; 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UPLOAD_START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audits stored digests and requests only missing indices.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33369" y="3538537"/>
            <a:ext cx="475863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DM Sans"/>
              </a:rPr>
              <a:t>2. Double-Pass SHA-256 Verification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33369" y="3833812"/>
            <a:ext cx="40537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Each chunk validates on arrival; 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UPLOAD_FINISH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re-verifies assembled file integrity before atomic commit.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33369" y="5053012"/>
            <a:ext cx="475863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BE123C"/>
                </a:solidFill>
                <a:latin typeface="DM Sans"/>
              </a:rPr>
              <a:t>Troubleshooting Case (Table 5.2)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33369" y="5348287"/>
            <a:ext cx="40537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881337"/>
                </a:solidFill>
                <a:latin typeface="DM Sans"/>
              </a:rPr>
              <a:t>TCP Stream Splitting:</a:t>
            </a:r>
            <a:r>
              <a:rPr b="0" sz="1350" i="0" u="none">
                <a:solidFill>
                  <a:srgbClr val="881337"/>
                </a:solidFill>
                <a:latin typeface="DM Sans"/>
              </a:rPr>
              <a:t> Fixed partial JSON reads via </a:t>
            </a:r>
            <a:r>
              <a:rPr b="0" sz="1350" i="0" u="none">
                <a:solidFill>
                  <a:srgbClr val="881337"/>
                </a:solidFill>
                <a:latin typeface="DM Sans"/>
              </a:rPr>
              <a:t>receive_exactly()</a:t>
            </a:r>
            <a:r>
              <a:rPr b="0" sz="1350" i="0" u="none">
                <a:solidFill>
                  <a:srgbClr val="881337"/>
                </a:solidFill>
                <a:latin typeface="DM Sans"/>
              </a:rPr>
              <a:t> with 4-byte </a:t>
            </a:r>
            <a:r>
              <a:rPr b="0" sz="1350" i="0" u="none">
                <a:solidFill>
                  <a:srgbClr val="881337"/>
                </a:solidFill>
                <a:latin typeface="DM Sans"/>
              </a:rPr>
              <a:t>!I</a:t>
            </a:r>
            <a:r>
              <a:rPr b="0" sz="1350" i="0" u="none">
                <a:solidFill>
                  <a:srgbClr val="881337"/>
                </a:solidFill>
                <a:latin typeface="DM Sans"/>
              </a:rPr>
              <a:t> length headers.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281237"/>
            <a:ext cx="6094065" cy="3057525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70365" y="1838325"/>
            <a:ext cx="4612034" cy="1447800"/>
          </a:xfrm>
          <a:prstGeom prst="roundRect">
            <a:avLst>
              <a:gd name="adj" fmla="val 789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970365" y="3438525"/>
            <a:ext cx="4612034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70365" y="4714875"/>
            <a:ext cx="4612034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8200" y="2814637"/>
          <a:ext cx="5636863" cy="22955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785812"/>
                <a:gridCol w="1853058"/>
                <a:gridCol w="2270224"/>
                <a:gridCol w="727769"/>
              </a:tblGrid>
              <a:tr h="45910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DM Sans"/>
                        </a:rPr>
                        <a:t>Test 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DM Sans"/>
                        </a:rPr>
                        <a:t>Condition &amp; Input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DM Sans"/>
                        </a:rPr>
                        <a:t>Observed Result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DM Sans"/>
                        </a:rPr>
                        <a:t>Status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910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T1–T3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TLS Setup &amp; Auth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Handshake &amp; Auth verified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6A34A"/>
                          </a:solidFill>
                          <a:latin typeface="DM Sans"/>
                        </a:rPr>
                        <a:t>PASS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910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T5–T6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32 KB Chunk Resume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Aborted upload resumed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6A34A"/>
                          </a:solidFill>
                          <a:latin typeface="DM Sans"/>
                        </a:rPr>
                        <a:t>PASS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910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T8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Flask Web Gateway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Browser upload proxied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6A34A"/>
                          </a:solidFill>
                          <a:latin typeface="DM Sans"/>
                        </a:rPr>
                        <a:t>PASS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910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T9–T10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Concurrency &amp; RTT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Parallel OK; 0.158 ms avg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6A34A"/>
                          </a:solidFill>
                          <a:latin typeface="DM Sans"/>
                        </a:rPr>
                        <a:t>PASS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DM Sans"/>
              </a:rPr>
              <a:t>Computer Networks Laboratory CSE20110 | Group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590550"/>
            <a:ext cx="11582400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DM Sans"/>
              </a:rPr>
              <a:t>TESTING AND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509837"/>
            <a:ext cx="704608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284C7"/>
                </a:solidFill>
                <a:latin typeface="DM Sans"/>
              </a:rPr>
              <a:t>Table 4.1 — Summary of Functional Test Execution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41815" y="2009775"/>
            <a:ext cx="4364384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2E8F0"/>
                </a:solidFill>
                <a:latin typeface="DM Sans"/>
              </a:rPr>
              <a:t>PS C:\Users\Aditi\CNProject&gt; python -c "import hashlib..." files\sample.txt: c2ff2b7478d4...da247f5 files\received_sample.txt: c2ff2b7478d4...da247f5 [MATCH VERIFIED — 100% DATA INTEGRITY]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1815" y="2009775"/>
            <a:ext cx="505018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DM Sans"/>
              </a:rPr>
              <a:t>// Figure 4.3 — File SHA-256 Verification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1815" y="2257425"/>
            <a:ext cx="4364384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E2E8F0"/>
                </a:solidFill>
                <a:latin typeface="JetBrains Mono"/>
              </a:rPr>
              <a:t>PS C:\Users\Aditi\CNProject&gt; python -c "import hashlib..." files\sample.txt: c2ff2b7478d4...da247f5 files\received_sample.txt: c2ff2b7478d4...da247f5 [MATCH VERIFIED — 100% DATA INTEGRITY]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1815" y="3609975"/>
            <a:ext cx="505018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DM Sans"/>
              </a:rPr>
              <a:t>Table 4.2 — Latency Benchmarks (20 Samples)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1815" y="3895725"/>
            <a:ext cx="505018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DM Sans"/>
              </a:rPr>
              <a:t>Avg RTT: 0.158 ms | Median: 0.131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41815" y="4162425"/>
            <a:ext cx="505018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Min RTT: 0.086 ms | Max RTT: 0.715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1815" y="4886325"/>
            <a:ext cx="505018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DM Sans"/>
              </a:rPr>
              <a:t>Table 4.3 — Objective Verification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1815" y="5153025"/>
            <a:ext cx="43643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O1–O7 validated via CLI logs, SHA-256 digests, and Wireshark TLS captures.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57875"/>
            <a:ext cx="10972800" cy="619125"/>
          </a:xfrm>
          <a:prstGeom prst="roundRect">
            <a:avLst>
              <a:gd name="adj" fmla="val 18461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409825"/>
            <a:ext cx="3479750" cy="2276475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56050" y="2409825"/>
            <a:ext cx="3479750" cy="2276475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02500" y="2295525"/>
            <a:ext cx="3479750" cy="2505075"/>
          </a:xfrm>
          <a:prstGeom prst="roundRect">
            <a:avLst>
              <a:gd name="adj" fmla="val 456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71462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660850" y="271462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07300" y="260032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6076950"/>
            <a:ext cx="180975" cy="1809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DM Sans"/>
              </a:rPr>
              <a:t>Computer Networks Laboratory CSE20110 | Group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590550"/>
            <a:ext cx="11582400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DM Sans"/>
              </a:rPr>
              <a:t>WORKING DEMONSTRATION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047750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Resumable Chunked Transfer &amp; Web Gateway Mid-Transfer Recovery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6048375"/>
            <a:ext cx="11315700" cy="238125"/>
          </a:xfrm>
          <a:prstGeom prst="rect">
            <a:avLst/>
          </a:prstGeom>
          <a:noFill/>
        </p:spPr>
        <p:txBody>
          <a:bodyPr wrap="none" lIns="180975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65F46"/>
                </a:solidFill>
                <a:latin typeface="DM Sans"/>
              </a:rPr>
              <a:t>Success Criterion: Server outputs "Resumable upload completed and SHA-256 verified." with identical file hashes.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5" y="2714625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650" i="0" u="none">
                <a:solidFill>
                  <a:srgbClr val="FFFFFF"/>
                </a:solidFill>
                <a:latin typeface="DM San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24225"/>
            <a:ext cx="3767072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DM Sans"/>
              </a:rPr>
              <a:t>Server &amp; Gateway Launch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95700"/>
            <a:ext cx="2965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Initialize TLS backend (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server.py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on port 5001) and Flask web portal (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app.py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on port 5000).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975" y="2714625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650" i="0" u="none">
                <a:solidFill>
                  <a:srgbClr val="FFFFFF"/>
                </a:solidFill>
                <a:latin typeface="DM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0850" y="3324225"/>
            <a:ext cx="3767072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DM Sans"/>
              </a:rPr>
              <a:t>Start &amp; Interrupt Transfer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0850" y="3695700"/>
            <a:ext cx="2965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Trigger upload via CLI (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/resume files/sample.txt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) or Web UI; simulate link drop mid-transfer.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4425" y="2600325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650" i="0" u="none">
                <a:solidFill>
                  <a:srgbClr val="FFFFFF"/>
                </a:solidFill>
                <a:latin typeface="DM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7300" y="3209925"/>
            <a:ext cx="3767072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DM Sans"/>
              </a:rPr>
              <a:t>Resume &amp; Verify Digest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07300" y="3581400"/>
            <a:ext cx="2965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Re-initiate transfer; server skips verified 32 KB chunks, fetches missing blocks, and confirms SHA-256 match.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44467" y="2066925"/>
            <a:ext cx="5837932" cy="3486150"/>
          </a:xfrm>
          <a:prstGeom prst="roundRect">
            <a:avLst>
              <a:gd name="adj" fmla="val 327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062162"/>
            <a:ext cx="4868167" cy="1076325"/>
          </a:xfrm>
          <a:prstGeom prst="roundRect">
            <a:avLst>
              <a:gd name="adj" fmla="val 1061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271837"/>
            <a:ext cx="4868167" cy="1076325"/>
          </a:xfrm>
          <a:prstGeom prst="roundRect">
            <a:avLst>
              <a:gd name="adj" fmla="val 1061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481512"/>
            <a:ext cx="4868167" cy="1076325"/>
          </a:xfrm>
          <a:prstGeom prst="roundRect">
            <a:avLst>
              <a:gd name="adj" fmla="val 1061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DM Sans"/>
              </a:rPr>
              <a:t>Computer Networks Laboratory CSE20110 | Group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590550"/>
            <a:ext cx="11582400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DM Sans"/>
              </a:rPr>
              <a:t>CONCLUSION AND CONTRIBUTIONS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73067" y="2295525"/>
            <a:ext cx="621893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DM Sans"/>
              </a:rPr>
              <a:t>Appendix C — Individual Contributions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73067" y="4981575"/>
            <a:ext cx="5475982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DM Sans"/>
              </a:rPr>
              <a:t>AI Declaration:</a:t>
            </a:r>
            <a:r>
              <a:rPr b="0" sz="1050" i="0" u="none">
                <a:solidFill>
                  <a:srgbClr val="64748B"/>
                </a:solidFill>
                <a:latin typeface="DM Sans"/>
              </a:rPr>
              <a:t> ChatGPT utilized for architectural consultation and debugging; all code manually verified via functional testing.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2233612"/>
            <a:ext cx="593941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284C7"/>
                </a:solidFill>
                <a:latin typeface="DM Sans"/>
              </a:rPr>
              <a:t>Project Outcome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050" y="2509837"/>
            <a:ext cx="462051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Delivered fault-tolerant TLS 1.3 socket middleware with Flask web gateway and dual SHA-256 verification.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050" y="3443287"/>
            <a:ext cx="593941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6A34A"/>
                </a:solidFill>
                <a:latin typeface="DM Sans"/>
              </a:rPr>
              <a:t>Advantages &amp; Applications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050" y="3719512"/>
            <a:ext cx="462051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Zero data loss across unstable links; browser-accessible portal for enterprise intranet file sharing.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050" y="4652962"/>
            <a:ext cx="593941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D97706"/>
                </a:solidFill>
                <a:latin typeface="DM Sans"/>
              </a:rPr>
              <a:t>Limitations &amp; Future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" y="4929187"/>
            <a:ext cx="462051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DM Sans"/>
              </a:rPr>
              <a:t>Current: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Self-signed certs &amp; static memory auth. </a:t>
            </a:r>
            <a:r>
              <a:rPr b="1" sz="1350" i="0" u="none">
                <a:solidFill>
                  <a:srgbClr val="334155"/>
                </a:solidFill>
                <a:latin typeface="DM Sans"/>
              </a:rPr>
              <a:t>Future: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OAuth2, bcrypt hashing, dynamic chunk sizing.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3067" y="2676525"/>
            <a:ext cx="547598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DM Sans"/>
              </a:rPr>
              <a:t>Aditi Pathak (1262240936):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Multithreaded TLS server (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server.py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), 4-byte framing (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!I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), and RLock synchronization.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73067" y="3248025"/>
            <a:ext cx="547598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DM Sans"/>
              </a:rPr>
              <a:t>Shraddha Pawar (1262241161):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32 KB resumable chunk engine, CLI client (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client.py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), and RTT latency benchmarking.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73067" y="3819525"/>
            <a:ext cx="547598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DM Sans"/>
              </a:rPr>
              <a:t>Rashi Rangrej (1262241175):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Flask web gateway (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app.py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), report Sections 1–2, and architecture topology design.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73067" y="4391025"/>
            <a:ext cx="547598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DM Sans"/>
              </a:rPr>
              <a:t>Niyati Priyani (1262241237):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Frontend portal (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index.html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), OpenSSL TLS 1.3 certificate provisioning, and report compilation.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224087"/>
            <a:ext cx="10972800" cy="3352800"/>
          </a:xfrm>
          <a:prstGeom prst="roundRect">
            <a:avLst>
              <a:gd name="adj" fmla="val 340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1281112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DM Sans"/>
              </a:rPr>
              <a:t>Computer Networks Laboratory CSE20110 | Group 12 — Slide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509712"/>
            <a:ext cx="11582400" cy="447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DM Sans"/>
              </a:rPr>
              <a:t>REFERENCES (BACKUP SLIDE)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28887"/>
            <a:ext cx="10458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E2E8F0"/>
                </a:solidFill>
                <a:latin typeface="DM Sans"/>
              </a:rPr>
              <a:t>[1]</a:t>
            </a:r>
            <a:r>
              <a:rPr b="0" sz="1350" i="0" u="none">
                <a:solidFill>
                  <a:srgbClr val="E2E8F0"/>
                </a:solidFill>
                <a:latin typeface="DM Sans"/>
              </a:rPr>
              <a:t> W. Eddy, Ed., “Transmission Control Protocol (TCP),” RFC 9293, Internet Engineering Task Force (IETF), Aug. 2022. [Online]. Available: https://www.rfc-editor.org/rfc/rfc9293.html. [Accessed: Oct. 8, 2026].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57537"/>
            <a:ext cx="10458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E2E8F0"/>
                </a:solidFill>
                <a:latin typeface="DM Sans"/>
              </a:rPr>
              <a:t>[2]</a:t>
            </a:r>
            <a:r>
              <a:rPr b="0" sz="1350" i="0" u="none">
                <a:solidFill>
                  <a:srgbClr val="E2E8F0"/>
                </a:solidFill>
                <a:latin typeface="DM Sans"/>
              </a:rPr>
              <a:t> E. Rescorla, “The Transport Layer Security (TLS) Protocol Version 1.3,” RFC 9846, Internet Engineering Task Force (IETF), Jul. 2026. [Online]. Available: https://www.rfc-editor.org/rfc/rfc9846.html. [Accessed: Oct. 8, 2026].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86187"/>
            <a:ext cx="10458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E2E8F0"/>
                </a:solidFill>
                <a:latin typeface="DM Sans"/>
              </a:rPr>
              <a:t>[3]</a:t>
            </a:r>
            <a:r>
              <a:rPr b="0" sz="1350" i="0" u="none">
                <a:solidFill>
                  <a:srgbClr val="E2E8F0"/>
                </a:solidFill>
                <a:latin typeface="DM Sans"/>
              </a:rPr>
              <a:t> Python Software Foundation, “Python 3 Documentation: socket, ssl, json, struct, threading, and hashlib Modules.” [Online]. Available: https://docs.python.org/3/library/. [Accessed: Oct. 8, 2026].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14837"/>
            <a:ext cx="10458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E2E8F0"/>
                </a:solidFill>
                <a:latin typeface="DM Sans"/>
              </a:rPr>
              <a:t>[4]</a:t>
            </a:r>
            <a:r>
              <a:rPr b="0" sz="1350" i="0" u="none">
                <a:solidFill>
                  <a:srgbClr val="E2E8F0"/>
                </a:solidFill>
                <a:latin typeface="DM Sans"/>
              </a:rPr>
              <a:t> Wireshark Foundation, “Wireshark User’s Guide.” [Online]. Available: https://www.wireshark.org/docs/wsug_html/. [Accessed: Oct. 8, 2026].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43487"/>
            <a:ext cx="11277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E2E8F0"/>
                </a:solidFill>
                <a:latin typeface="DM Sans"/>
              </a:rPr>
              <a:t>[5]</a:t>
            </a:r>
            <a:r>
              <a:rPr b="0" sz="1350" i="0" u="none">
                <a:solidFill>
                  <a:srgbClr val="E2E8F0"/>
                </a:solidFill>
                <a:latin typeface="DM Sans"/>
              </a:rPr>
              <a:t> OpenSSL Project, “OpenSSL Documentation.” [Online]. Available: https://docs.openssl.org/. [Accessed: Oct. 8, 2026].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